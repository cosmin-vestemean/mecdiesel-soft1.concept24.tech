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84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ENGINE v5 HYBRID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Specificații tehnice pentru implementare în ERP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Dubhe Romania SRL  ·  HQ + 13 Filiale  ·  45,848 SKU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0" y="137160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A355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0" y="14173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45,848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326880" y="19202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în calcul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26880" y="25603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A355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0" y="2606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326880" y="3108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Locații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0" y="374904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A355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326880" y="42976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Pași calcul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0" y="49377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A355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326880" y="54864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 business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Versiunea curentă: run_minmax.py  ·  Iunie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prezentării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298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intrare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645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date trebuie să existe în ERP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6243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624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Eligibilitate &amp; Clasificare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971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NOU / ON DEMAND + ABC-XYZ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39502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950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MIN/MAX v5 HYBRID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297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Calculul pas cu pas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527608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5276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5276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Plafoane &amp; Reguli Business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623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CAP, Pack Rules, Buc 30%, flags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10528" y="12984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528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4032" y="1298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configurabili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14032" y="1645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LT, SSF, FRECVENTA, COV_TGT per furnizor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5146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10528" y="262432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10528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14032" y="2624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așteptat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14032" y="2971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coloane per SKU, 16 sheet-uri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8404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10528" y="39502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0528" y="3950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14032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externe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14032" y="4297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LICHIDARE / BLOCAT / EXCLUDE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516636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10528" y="527608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10528" y="5276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14032" y="5276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&amp; Cerințe ERP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14032" y="5623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date, frecvență, validare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intrare — Tranzacții &amp; Stoc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Tabelele necesare în ERP sau export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TRANZACȚII VÂNZĂRI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910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tranzacției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2032" y="164592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42032" y="16459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0" y="159105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 = max(Data) — NU data sistemului!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2494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SKU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42032" y="2304288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42032" y="23042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produs unic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907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Cantitate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42032" y="296265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42032" y="296265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2907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retururi (negative) — se face netting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Valoare netă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42032" y="362102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42032" y="36210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3566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 fără TVA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187952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client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42032" y="42793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42032" y="42793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83280" y="42245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Excludem INTE79 (transfer intern HQ→filiale)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48828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42032" y="493776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42032" y="49377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83280" y="48828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Locația vânzării — 13 filiale + HQ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1051560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 &amp; COMENZI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1554480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19088" y="15910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94192" y="164592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94192" y="16459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235440" y="159105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Cheie unică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2212848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22494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 disponibil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94192" y="2304288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394192" y="23042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235440" y="224942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Cantitate fizică disponibilă (STOC_QTY)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2871216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19088" y="29077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Comenzi furnizor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94192" y="296265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94192" y="296265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235440" y="2907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ORD_FURN — pe drum, nerecepcionate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09360" y="3529584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19088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ultimă recepție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394192" y="362102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94192" y="36210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235440" y="3566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LAST_RECEIPT — pentru DISC_FLAG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9360" y="4187952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19088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mediu RON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94192" y="42793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394192" y="42793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235440" y="42245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COST_MED_RON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309360" y="4846320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19088" y="48828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Valoare stoc EUR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394192" y="493776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94192" y="49377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235440" y="48828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STOC_VAL_EUR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INTE79 = Dubhe S.R.L. (transfer intern HQ→filiale) = 57,285 buc, 7.1M RON — EXCLUS DIN CALCUL!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intrare — Parametri furnizori &amp; ERP MIN/MAX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Continuare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FURNIZORI (per prefix SKU)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91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164592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34640" y="159105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Primele caractere din cod SKU: "VL", "KNK", etc.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249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LT_zile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2304288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23042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34640" y="224942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în zile calendaristice (ex: 7, 14, 21, 30)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907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296265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11680" y="296265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34640" y="290779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Factor — amplificator siguranță (1.28–1.65)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FRECVENTA_zile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362102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11680" y="36210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34640" y="3566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Cât de des se face o comandă (ex: 7, 14, 30)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187952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COV_HQ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0" y="42793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11680" y="42793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34640" y="4224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 acoperire HQ per clasă (AX=2.75 ... CZ=0)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4882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COV_BR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0" y="493776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011680" y="49377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34640" y="488289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 acoperire filială per clasă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1051560"/>
            <a:ext cx="557784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10515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MIN/MAX CURENT (referință comparație)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63640" y="1554480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73368" y="15910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 / Cod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92440" y="164592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92440" y="16459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915400" y="159105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Cheie unică SKU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2212848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73368" y="2249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MIN_MANUAL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92440" y="2304288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092440" y="230428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915400" y="224942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setat manual de PM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2871216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73368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MAX_MANUAL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092440" y="2962656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092440" y="296265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915400" y="29077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setat manual de PM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63640" y="3529584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73368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MIN_CALCULAT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092440" y="3621024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092440" y="362102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15400" y="3566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calculat curent de ERP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4187952"/>
            <a:ext cx="5577840" cy="59436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73368" y="4224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MAX_CALCULAT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092440" y="4279392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092440" y="42793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915400" y="422452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calculat curent de ERP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63640" y="4846320"/>
            <a:ext cx="5577840" cy="59436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73368" y="48828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Filială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092440" y="4937760"/>
            <a:ext cx="7315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092440" y="49377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915400" y="488289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Locația — comparație per branch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7200" y="62910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ERP_MAX = max(MAX_MANUAL, MAX_CALCULAT) — Engine compară cu valoarea mai mare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Eligibilitate SKU — 3 clase de ciclu de viață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Pasul 4 — aplică netting înainte!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69848"/>
            <a:ext cx="11000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PRE-PROCESARE: Netting per (SKU, client, fereastră) → sum().clip(lower=0). AZI = max(Data vânzări) din fișier — NU data curentă sistem.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657600" cy="4983480"/>
          </a:xfrm>
          <a:prstGeom prst="roundRect">
            <a:avLst>
              <a:gd name="adj" fmla="val 3000"/>
            </a:avLst>
          </a:prstGeom>
          <a:solidFill>
            <a:srgbClr val="1A3552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657600" cy="566928"/>
          </a:xfrm>
          <a:prstGeom prst="roundRect">
            <a:avLst>
              <a:gd name="adj" fmla="val 19355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313432"/>
            <a:ext cx="3383280" cy="841248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331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5146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SAPT_VZ &gt;= 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SAPT_FARA &lt;= 39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VZ_52S &gt;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cu vânzări regulate. Calcul complet MIN/MAX.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VZ_52S &gt; 0 obligatoriu — produse cu retururi care anulează net vânzările → ON DEMAND.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4462272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44074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SAPT_VZ: săptămâni cu vânzări din 52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937760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488289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SAPT_FARA: săptămâni fără vânzări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5413248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53583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VZ_52S: vânzări nete ultimele 52 săptămâni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627632"/>
            <a:ext cx="3657600" cy="4983480"/>
          </a:xfrm>
          <a:prstGeom prst="roundRect">
            <a:avLst>
              <a:gd name="adj" fmla="val 3000"/>
            </a:avLst>
          </a:prstGeom>
          <a:solidFill>
            <a:srgbClr val="1A3552"/>
          </a:solidFill>
          <a:ln w="254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43400" y="1627632"/>
            <a:ext cx="3657600" cy="566928"/>
          </a:xfrm>
          <a:prstGeom prst="roundRect">
            <a:avLst>
              <a:gd name="adj" fmla="val 19355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34840" y="16276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 / REACTIVAT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2313432"/>
            <a:ext cx="3383280" cy="841248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4568" y="2331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44568" y="25146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SAPT_8S &gt;=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VZ_26S &gt; 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nou introdus sau reactivat recent.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simplificat: VZ_13S / 3. CLASA = "NOU" (nu ABC-XYZ).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44568" y="4462272"/>
            <a:ext cx="91440" cy="91440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90872" y="44074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SAPT_8S: săptămâni cu vânzări din 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4937760"/>
            <a:ext cx="91440" cy="91440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90872" y="488289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VZ_26S: vânzări nete 26 săptămâni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44568" y="5413248"/>
            <a:ext cx="91440" cy="91440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90872" y="53583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COV_TGT = 1.0 (mai conservator)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1627632"/>
            <a:ext cx="3657600" cy="4983480"/>
          </a:xfrm>
          <a:prstGeom prst="roundRect">
            <a:avLst>
              <a:gd name="adj" fmla="val 3000"/>
            </a:avLst>
          </a:prstGeom>
          <a:solidFill>
            <a:srgbClr val="1A3552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29600" y="1627632"/>
            <a:ext cx="3657600" cy="566928"/>
          </a:xfrm>
          <a:prstGeom prst="roundRect">
            <a:avLst>
              <a:gd name="adj" fmla="val 19355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21040" y="16276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66760" y="2313432"/>
            <a:ext cx="3383280" cy="841248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30768" y="2331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CONDIȚIE: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30768" y="25146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Restul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 îndeplinește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criteriile de sus)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3291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Insuficient istoric. MIN = MAX = BUY_QTY = 0.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Rămâne în output cu fond gri. CLASA = "OD".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30768" y="4462272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77072" y="44074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din SKU (33,223 din 45,848)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30768" y="493776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77072" y="488289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se setează niveluri automate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30768" y="5413248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77072" y="53583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comandă doar la cerere client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 ABC + XYZ → CLASA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Pașii 5 &amp; 6 — doar pentru SKU STANDARD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303520" cy="347472"/>
          </a:xfrm>
          <a:prstGeom prst="roundRect">
            <a:avLst>
              <a:gd name="adj" fmla="val 18421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— pe VAL_52S cumulativ (RON)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303520" cy="694944"/>
          </a:xfrm>
          <a:prstGeom prst="roundRect">
            <a:avLst>
              <a:gd name="adj" fmla="val 10526"/>
            </a:avLst>
          </a:prstGeom>
          <a:solidFill>
            <a:srgbClr val="1A3552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Cumulativ: 0 – 80%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8470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produse — cheie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609344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6093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= 95%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5303520" cy="694944"/>
          </a:xfrm>
          <a:prstGeom prst="roundRect">
            <a:avLst>
              <a:gd name="adj" fmla="val 10526"/>
            </a:avLst>
          </a:prstGeom>
          <a:solidFill>
            <a:srgbClr val="1A3552"/>
          </a:solidFill>
          <a:ln w="1905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350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331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Cumulativ: 80 – 95%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6243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 medii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2386584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0" y="2386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= 85%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5303520" cy="694944"/>
          </a:xfrm>
          <a:prstGeom prst="roundRect">
            <a:avLst>
              <a:gd name="adj" fmla="val 10526"/>
            </a:avLst>
          </a:prstGeom>
          <a:solidFill>
            <a:srgbClr val="1A3552"/>
          </a:solidFill>
          <a:ln w="19050">
            <a:solidFill>
              <a:srgbClr val="E07B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1272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1089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Cumulativ: 95 – 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4015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Rulaj mic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163824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0" y="31638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= 75%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1051560"/>
            <a:ext cx="5577840" cy="347472"/>
          </a:xfrm>
          <a:prstGeom prst="roundRect">
            <a:avLst>
              <a:gd name="adj" fmla="val 18421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10515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— CV real lunar, 12 buckets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1481328"/>
            <a:ext cx="5577840" cy="841248"/>
          </a:xfrm>
          <a:prstGeom prst="rect">
            <a:avLst/>
          </a:prstGeom>
          <a:solidFill>
            <a:srgbClr val="0A1929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1554480"/>
            <a:ext cx="53949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= StdDev(vânzări_lunare_12L) / Mean(vânzări_lunare_12L)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X: CV &lt;= 0.5   cerere stabilă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Y: CV &lt;= 1.0   cerere medie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Z: CV &gt;  1.0   cerere volatilă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2423160"/>
            <a:ext cx="5577840" cy="365760"/>
          </a:xfrm>
          <a:prstGeom prst="roundRect">
            <a:avLst>
              <a:gd name="adj" fmla="val 15000"/>
            </a:avLst>
          </a:prstGeom>
          <a:solidFill>
            <a:srgbClr val="1F4068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0" y="24231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Forțat Z: lună dominantă &gt; 60% VZ_52S, sau &lt; 2 luni cu vânzări, sau NOU/OD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29077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CLASA = concat(ABC, XYZ)  →  COV_TGT HQ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255264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63640" y="325526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53528" y="3255264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53528" y="325526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(CV≤0.5)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43416" y="3255264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043416" y="325526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(CV≤1.0)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433304" y="3255264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433304" y="3255264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(CV&gt;1.0)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3694176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63640" y="369417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653528" y="3694176"/>
            <a:ext cx="1389888" cy="438912"/>
          </a:xfrm>
          <a:prstGeom prst="rect">
            <a:avLst/>
          </a:prstGeom>
          <a:solidFill>
            <a:srgbClr val="152840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53528" y="369417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43416" y="3694176"/>
            <a:ext cx="1389888" cy="438912"/>
          </a:xfrm>
          <a:prstGeom prst="rect">
            <a:avLst/>
          </a:prstGeom>
          <a:solidFill>
            <a:srgbClr val="152840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043416" y="369417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433304" y="3694176"/>
            <a:ext cx="1389888" cy="438912"/>
          </a:xfrm>
          <a:prstGeom prst="rect">
            <a:avLst/>
          </a:prstGeom>
          <a:solidFill>
            <a:srgbClr val="152840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433304" y="3694176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4133088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63640" y="41330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653528" y="4133088"/>
            <a:ext cx="1389888" cy="438912"/>
          </a:xfrm>
          <a:prstGeom prst="rect">
            <a:avLst/>
          </a:prstGeom>
          <a:solidFill>
            <a:srgbClr val="1A3552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653528" y="41330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043416" y="4133088"/>
            <a:ext cx="1389888" cy="438912"/>
          </a:xfrm>
          <a:prstGeom prst="rect">
            <a:avLst/>
          </a:prstGeom>
          <a:solidFill>
            <a:srgbClr val="1A3552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043416" y="41330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433304" y="4133088"/>
            <a:ext cx="1389888" cy="438912"/>
          </a:xfrm>
          <a:prstGeom prst="rect">
            <a:avLst/>
          </a:prstGeom>
          <a:solidFill>
            <a:srgbClr val="1A3552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33304" y="41330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63640" y="4572000"/>
            <a:ext cx="1389888" cy="438912"/>
          </a:xfrm>
          <a:prstGeom prst="rect">
            <a:avLst/>
          </a:prstGeom>
          <a:solidFill>
            <a:srgbClr val="1F4068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263640" y="45720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653528" y="4572000"/>
            <a:ext cx="1389888" cy="438912"/>
          </a:xfrm>
          <a:prstGeom prst="rect">
            <a:avLst/>
          </a:prstGeom>
          <a:solidFill>
            <a:srgbClr val="152840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653528" y="45720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043416" y="4572000"/>
            <a:ext cx="1389888" cy="438912"/>
          </a:xfrm>
          <a:prstGeom prst="rect">
            <a:avLst/>
          </a:prstGeom>
          <a:solidFill>
            <a:srgbClr val="152840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043416" y="45720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433304" y="4572000"/>
            <a:ext cx="1389888" cy="438912"/>
          </a:xfrm>
          <a:prstGeom prst="rect">
            <a:avLst/>
          </a:prstGeom>
          <a:solidFill>
            <a:srgbClr val="152840"/>
          </a:solidFill>
          <a:ln w="63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433304" y="457200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NOU/REACTIVAT → CLASA = "NOU"  |  ON DEMAND → CLASA = "OD"  (override ABC+XYZ)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MIN/MAX v5 HYBRID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Calculul complet — HQ și filiale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430000" cy="365760"/>
          </a:xfrm>
          <a:prstGeom prst="roundRect">
            <a:avLst>
              <a:gd name="adj" fmla="val 17500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Pasul 1 — AVG_POND (medie ponderată lunară)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430000" cy="713232"/>
          </a:xfrm>
          <a:prstGeom prst="rect">
            <a:avLst/>
          </a:prstGeom>
          <a:solidFill>
            <a:srgbClr val="0A1929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STANDARD:     AVG = VZ_4S×0.30 + (VZ_13S/3)×0.40 + (VZ_26S/6)×0.15 + (VZ_52S/12)×0.15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NOU/REACTIV:  AVG = VZ_13S / 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430000" cy="365760"/>
          </a:xfrm>
          <a:prstGeom prst="roundRect">
            <a:avLst>
              <a:gd name="adj" fmla="val 17500"/>
            </a:avLst>
          </a:prstGeom>
          <a:solidFill>
            <a:srgbClr val="1F406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Pașii 2-3 — Componentele formulei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11430000" cy="1920240"/>
          </a:xfrm>
          <a:prstGeom prst="rect">
            <a:avLst/>
          </a:prstGeom>
          <a:solidFill>
            <a:srgbClr val="0A1929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98064"/>
            <a:ext cx="1124712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       = AVG / 30                                   (consum zilnic mediu)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  = (AVG × 0.30 / 30) × SSF × sqrt(LT)       (stoc siguranță; STD_L = AVG×30%)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lt_stock = ad × LT                                    (stoc pe lead time)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slts     = lt_stock × (100/SL - 1)                    (ajustare nivel serviciu)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      = safety + slts + lt_stock                   (buffer total)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    = max(AVG × COV_TGT,  ad × FRECVENTA_zile)   (cantitate ciclu comandă)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MAX_raw  = ceil(buf + cycle)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MAX_inf  = ceil(MAX_raw × 1.30)                       ← INFLATIE HQ +30%  (HQ ONLY!)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727448"/>
            <a:ext cx="11430000" cy="365760"/>
          </a:xfrm>
          <a:prstGeom prst="roundRect">
            <a:avLst>
              <a:gd name="adj" fmla="val 17500"/>
            </a:avLst>
          </a:prstGeom>
          <a:solidFill>
            <a:srgbClr val="1F4068"/>
          </a:solidFill>
          <a:ln w="1905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727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Pasul 4 — 3 Plafoane obligatorii (se aplică simultan)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166360"/>
            <a:ext cx="11430000" cy="960120"/>
          </a:xfrm>
          <a:prstGeom prst="rect">
            <a:avLst/>
          </a:prstGeom>
          <a:solidFill>
            <a:srgbClr val="0A1929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239512"/>
            <a:ext cx="1124712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CAP6     = ceil(AVG × 6)                        (max 6 luni consum)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VZ26_CAP = VZ_26S  if VZ_26S &gt; 0 else 9999      (realitate recentă)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ENG_MAX  = min(MAX_inf,  CAP6,  VZ26_CAP)       (MINIM DIN TOATE TREI!)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ENG_MIN  = min(max(ceil(buf), MIN_DOC),  ENG_MAX)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BUY_QTY  = max(0,  ENG_MAX - STOC_QTY - ORD_FURN)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19963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SL: A=95%  B=85%  C=75%  |  HQ inflate ×1.30 — FILIALELE nu au inflație!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 Business Speciale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HQ CAP · București 30% · Pack Rules · Flags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74552" cy="2057400"/>
          </a:xfrm>
          <a:prstGeom prst="roundRect">
            <a:avLst>
              <a:gd name="adj" fmla="val 4444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170432"/>
            <a:ext cx="594360" cy="347472"/>
          </a:xfrm>
          <a:prstGeom prst="roundRect">
            <a:avLst>
              <a:gd name="adj" fmla="val 15789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17043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CAP — ENG_MAX(HQ) ≤ Σ ENG_MAX(filiale) × 1.5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09344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nu are vânzări proprii — este agregator pur. Formula supraevaluează HQ (inflate ×1.3 + formulă).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Cap-ul corectează. SKU cu SUM_BR_MAX=0 nu se capează (filialele nu au stoc → HQ comandă liber).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4,208 SKU reduse din 45,848 (~9%)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95160" y="1609344"/>
            <a:ext cx="4937760" cy="1371600"/>
          </a:xfrm>
          <a:prstGeom prst="rect">
            <a:avLst/>
          </a:prstGeom>
          <a:solidFill>
            <a:srgbClr val="0A1929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86600" y="1682496"/>
            <a:ext cx="4754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ENG_MAX_HQ &gt; SUM_BR_MAX × 1.5: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ENG_MAX_HQ = ceil(SUM_BR_MAX × 1.5)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319272"/>
            <a:ext cx="11274552" cy="2057400"/>
          </a:xfrm>
          <a:prstGeom prst="roundRect">
            <a:avLst>
              <a:gd name="adj" fmla="val 4444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59436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41071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41071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BUCUREȘTI — min 30% din ENG_MIN(HQ)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849624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mai mare filială (~29,408 SKU activi). Garant că Buc are minim 30% din nivelul HQ.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lipsă din Buc cu HQ ENG_MIN &gt; 0 → adăugate automat la 30%.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5160" y="3849624"/>
            <a:ext cx="4937760" cy="1371600"/>
          </a:xfrm>
          <a:prstGeom prst="rect">
            <a:avLst/>
          </a:prstGeom>
          <a:solidFill>
            <a:srgbClr val="0A1929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3922776"/>
            <a:ext cx="4754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ENG_MIN_BUC &lt; ENG_MIN_HQ × 0.30: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ENG_MIN_BUC = ceil(ENG_MIN_HQ × 0.30)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1A3552"/>
          </a:solidFill>
          <a:ln w="1905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5669280"/>
            <a:ext cx="594360" cy="347472"/>
          </a:xfrm>
          <a:prstGeom prst="roundRect">
            <a:avLst>
              <a:gd name="adj" fmla="val 15789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56692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669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Rules — praguri minime per tip produs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6071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FRÂNĂ: rot. multiplu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6071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BUCȘĂ / SILENTBLOC: min 4 buc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6071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INJECTOR: 0 dacă MAX&lt;3; altfel min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6071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/ CĂMAȘĂ: multiplu pack 4/6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5650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Re-aplicat după HQ CAP!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configurabili în ERP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Per furnizor/prefix · Nu sunt hardcodați!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COV_TGT — acoperire țintă (luni) per CLASA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1143000" cy="29260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1389888"/>
            <a:ext cx="1051560" cy="29260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138988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COV_HQ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389888"/>
            <a:ext cx="2926080" cy="29260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1389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Semnificație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114300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7190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45920" y="1719072"/>
            <a:ext cx="105156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17190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1719072"/>
            <a:ext cx="292608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88920" y="1719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A stabil — stoc maxim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066544"/>
            <a:ext cx="114300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0665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0" y="2066544"/>
            <a:ext cx="105156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91640" y="206654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2066544"/>
            <a:ext cx="292608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88920" y="20665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A medie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414016"/>
            <a:ext cx="114300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4140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0" y="2414016"/>
            <a:ext cx="105156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91640" y="241401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2414016"/>
            <a:ext cx="292608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88920" y="24140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A volatil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761488"/>
            <a:ext cx="114300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27614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0" y="2761488"/>
            <a:ext cx="105156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91640" y="27614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0" y="2761488"/>
            <a:ext cx="292608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88920" y="27614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B stabil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114300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31089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645920" y="3108960"/>
            <a:ext cx="105156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691640" y="31089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0" y="3108960"/>
            <a:ext cx="292608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88920" y="31089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B mediu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456432"/>
            <a:ext cx="114300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4564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645920" y="3456432"/>
            <a:ext cx="105156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91640" y="345643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0" y="3456432"/>
            <a:ext cx="292608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88920" y="3456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B volatil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3803904"/>
            <a:ext cx="114300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" y="38039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645920" y="3803904"/>
            <a:ext cx="105156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691640" y="380390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0" y="3803904"/>
            <a:ext cx="292608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88920" y="38039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C stabil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151376"/>
            <a:ext cx="114300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" y="415137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645920" y="4151376"/>
            <a:ext cx="105156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91640" y="415137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1.50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0" y="4151376"/>
            <a:ext cx="292608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88920" y="4151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C mediu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4498848"/>
            <a:ext cx="114300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" y="449884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645920" y="4498848"/>
            <a:ext cx="105156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691640" y="44988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43200" y="4498848"/>
            <a:ext cx="292608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88920" y="44988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se stochează!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57200" y="4846320"/>
            <a:ext cx="114300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" y="48463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645920" y="4846320"/>
            <a:ext cx="105156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691640" y="48463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743200" y="4846320"/>
            <a:ext cx="2926080" cy="347472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788920" y="4846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Conservator — produs nou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7200" y="5193792"/>
            <a:ext cx="114300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02920" y="519379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645920" y="5193792"/>
            <a:ext cx="105156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691640" y="519379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743200" y="5193792"/>
            <a:ext cx="2926080" cy="347472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788920" y="51937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Min=Max=0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626364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cheie per prefix furnizor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263640" y="141732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400800" y="1490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LT_zile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8778240" y="150876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778240" y="15087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90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6400800" y="18928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zile calendaristice. Impact direct pe lt_stock și safety.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263640" y="26060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400800" y="2679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SSF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8778240" y="269748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778240" y="26974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 – 1.65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6400800" y="30815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Factor. Amplificator pentru stocul de siguranță.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263640" y="379476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00800" y="38679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FRECVENTA_zile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8778240" y="388620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8778240" y="3886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30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6400800" y="42702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Frecvența comenzii. Influențează componenta cycle din formulă.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263640" y="498348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400800" y="50566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SL_A / B / C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8778240" y="5074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8778240" y="50749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95/85/75%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6400800" y="54589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per clasă ABC. Influențează componenta slts.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457200" y="62910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Toți parametrii sunt citiți din fișierul parametri_furnizori.xlsx la fiecare rulare — NU hardcodați în engine!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externe — LICHIDARE · BLOCAT · EXCLUDE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Din fișier extern, aplicate după calcul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0" cy="5074920"/>
          </a:xfrm>
          <a:prstGeom prst="roundRect">
            <a:avLst>
              <a:gd name="adj" fmla="val 3000"/>
            </a:avLst>
          </a:prstGeom>
          <a:solidFill>
            <a:srgbClr val="1A3552"/>
          </a:solidFill>
          <a:ln w="254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LICHIDARE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3383280" cy="50292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BUY_QTY = 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50008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în lichidare stoc. Engine calculează MIN/MAX ca referință dar comanda = 0. Scopul: epuizare stoc fără reaprovizionare.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507492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1,917 SKU  (run Iunie 2026)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051560"/>
            <a:ext cx="3657600" cy="5074920"/>
          </a:xfrm>
          <a:prstGeom prst="roundRect">
            <a:avLst>
              <a:gd name="adj" fmla="val 3000"/>
            </a:avLst>
          </a:prstGeom>
          <a:solidFill>
            <a:srgbClr val="1A3552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1051560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34840" y="1051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BLOCAT LA FURNIZOR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737360"/>
            <a:ext cx="3383280" cy="50292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7556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ENG_MIN = ENG_MAX = BUY = 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350008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 blocat de furnizor (discontinuat, fără stoc la sursă). Nu se calculează și nu se comandă. Poate fi temporar.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507492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7,813 SKU  (run Iunie 2026)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1051560"/>
            <a:ext cx="3657600" cy="5074920"/>
          </a:xfrm>
          <a:prstGeom prst="roundRect">
            <a:avLst>
              <a:gd name="adj" fmla="val 3000"/>
            </a:avLst>
          </a:prstGeom>
          <a:solidFill>
            <a:srgbClr val="1A3552"/>
          </a:solidFill>
          <a:ln w="25400">
            <a:solidFill>
              <a:srgbClr val="8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9600" y="1051560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8FA8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21040" y="1051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DIN STATISTICI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66760" y="1737360"/>
            <a:ext cx="3383280" cy="50292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58200" y="17556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582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ENG_MIN = ENG_MAX = BUY = 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2350008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din engine (promo, sezonier forțat). Nu participă la calcul. Rămâne în output cu valori 0 pentru trasabilitate.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66760" y="507492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58200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18,292 SKU  (run Iunie 2026)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199632"/>
            <a:ext cx="11274552" cy="411480"/>
          </a:xfrm>
          <a:prstGeom prst="roundRect">
            <a:avLst>
              <a:gd name="adj" fmla="val 15556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6217920"/>
            <a:ext cx="1100023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LOGICĂ: flag din ERP SAU din fișier extern = setat. Fișier: LICHIDARE_EXCLUDERE_SI_BLOCARE.xlsx (~34K rânduri). Aplicat pe HQ + toate filialele după HQ CAP.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output — 39 coloane, 16 sheet-uri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minmax_union.xlsx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Sheet-uri output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3898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45,848 SKU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BUCURESTI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8928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~29,408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3957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3957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89864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89864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~4,100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40156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40156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90448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BRASOV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9044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44074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CLUJ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44074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~5,100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91032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49103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49103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~3,800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80360" y="138988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53512" y="138988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CRAIOVA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13898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~3,900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80360" y="189280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53512" y="18928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18928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~3,700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80360" y="239572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53512" y="23957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23957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880360" y="289864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53512" y="289864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ORADEA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289864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~3,600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80360" y="340156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53512" y="340156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PITESTI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340156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~3,800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80360" y="390448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953512" y="390448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PLOIESTI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60520" y="39044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880360" y="440740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1F4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53512" y="44074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TIMISOARA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60520" y="440740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~4,100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880360" y="491032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1A3552"/>
          </a:solidFill>
          <a:ln w="127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53512" y="49103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60520" y="49103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 run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486400" y="1051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coloane per SKU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0" y="138988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486400" y="13898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486400" y="16824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559552" y="16824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0" y="19110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59552" y="19110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0" y="21396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559552" y="21396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DENUMIRE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86400" y="23682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559552" y="23682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FURNIZOR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26680" y="138988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726680" y="13898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VÂNZĂRI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726680" y="16824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799832" y="16824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VZ_52S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726680" y="19110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799832" y="19110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VZ_26S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726680" y="21396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799832" y="21396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VZ_13S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26680" y="23682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799832" y="23682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VZ_4S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726680" y="25968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799832" y="25968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SAPT_VZ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726680" y="28254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799832" y="28254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SAPT_12S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726680" y="30540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799832" y="30540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ULT_VANZ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726680" y="32826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799832" y="32826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SAPT_FARA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966960" y="138988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966960" y="13898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966960" y="16824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0040112" y="16824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AVG_POND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966960" y="19110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0040112" y="19110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966960" y="21396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0040112" y="21396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XYZ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966960" y="23682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0040112" y="23682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CLASA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966960" y="259689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0040112" y="25968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966960" y="282549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040112" y="282549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COV_TGT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86400" y="353872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486400" y="3538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486400" y="38313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559552" y="38313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ENG_MIN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486400" y="40599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559552" y="4059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ENG_MAX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486400" y="42885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5559552" y="42885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STOC_QTY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486400" y="45171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5559552" y="45171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ORD_FURN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486400" y="47457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559552" y="47457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ACOP_CUR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486400" y="49743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559552" y="49743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BUY_QTY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726680" y="353872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7726680" y="3538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ERP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7726680" y="38313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7799832" y="38313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ERP_MIN_CALC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726680" y="40599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799832" y="4059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ERP_MAX_CALC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726680" y="42885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7799832" y="42885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ERP_MIN_MAN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7726680" y="45171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7799832" y="45171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ERP_MAX_MAN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7726680" y="47457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799832" y="47457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9966960" y="3538728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9966960" y="3538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FLAGS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9966960" y="38313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10040112" y="38313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9966960" y="40599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10040112" y="4059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966960" y="42885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0040112" y="42885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STOC_VAL_EUR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966960" y="45171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10040112" y="45171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COST_MED_RON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966960" y="47457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10040112" y="47457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BUY_VALUE_RON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9966960" y="49743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10040112" y="49743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LAST_RECEIPT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966960" y="52029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10040112" y="5202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DISC_FLAG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966960" y="54315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10040112" y="54315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BLOCAT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9966960" y="5660136"/>
            <a:ext cx="2103120" cy="228600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10040112" y="56601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9966960" y="5888736"/>
            <a:ext cx="2103120" cy="228600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10040112" y="58887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LICHIDARE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457200" y="62910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 0: titlu cu metadata run  |  Row 1: coloane  |  Row 2+: date  |  Total: ~16 MB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Coloana FLAG &amp;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Comparație Engine vs ERP + trend vânzări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— raportul ENG_MAX / ERP_MAX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5943600" cy="475488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46304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12848" y="138988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 – 1.30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0" y="138988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și ERP aliniate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5943600" cy="475488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0352" y="1993392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99339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ENG &gt; ERP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12848" y="19202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1.30 – 2.0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192024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recomandă mai mult (30–100%)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5943600" cy="475488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" y="2523744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E07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52374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ENG &lt; ERP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12848" y="24505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B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– 0.77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0" y="245059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recomandă mai puțin (23–50%)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5943600" cy="475488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0352" y="3054096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05409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ENG &gt;&gt; ERP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12848" y="298094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2.0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2980944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Diferență majoră — analiză necesară!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11296"/>
            <a:ext cx="5943600" cy="475488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0352" y="3584448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" y="3584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ENG &lt;&lt; ERP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12848" y="351129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0" y="3511296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mult mai mare — posibil suprastoc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41648"/>
            <a:ext cx="5943600" cy="475488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0352" y="411480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" y="411480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ERP=0, ENG&gt;0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12848" y="40416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40480" y="404164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parametri în ERP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5943600" cy="475488"/>
          </a:xfrm>
          <a:prstGeom prst="rect">
            <a:avLst/>
          </a:prstGeom>
          <a:solidFill>
            <a:srgbClr val="1A35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0352" y="4645152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464515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ENG=0, ERP&gt;0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12848" y="45720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40480" y="457200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 sau flag — ERP are valori vechi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102352"/>
            <a:ext cx="5943600" cy="475488"/>
          </a:xfrm>
          <a:prstGeom prst="rect">
            <a:avLst/>
          </a:prstGeom>
          <a:solidFill>
            <a:srgbClr val="1F40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30352" y="5175504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8FA8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0352" y="517550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AMBELE 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212848" y="510235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8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0480" y="51023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ON DEMAND confirmat sau exclus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83680" y="10515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trendul vânzărilor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83680" y="138988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A3552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75120" y="148132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75120" y="14813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83880" y="138988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VZ_13S vs VZ_26S &gt; +10%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83680" y="204825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675120" y="2139696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75120" y="2139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83880" y="204825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Variație -10% până la +10%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83680" y="270662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A3552"/>
          </a:solidFill>
          <a:ln w="1905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675120" y="2798064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75120" y="27980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DOWN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183880" y="270662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Scădere -30% până la -10%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83680" y="336499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A3552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675120" y="34564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67512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183880" y="336499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Scădere &gt; 30% sau VZ_13S = 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583680" y="402336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675120" y="411480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7512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183880" y="40233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= NOU/REACTIVAT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583680" y="4773168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A3552"/>
          </a:solidFill>
          <a:ln w="254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720840" y="48280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DISC_FLAG — "DISCONTINUAT?"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720840" y="513892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 dacă (AZI - LAST_RECEIPT_DATE) &gt; 365 zile.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Fundal portocaliu în Excel. Semnalizează produse fără recepție de peste 1 an — posibil discontinuate la furnizor.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57200" y="62910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ACOP_CUR = STOC_QTY / AVG_POND  (luni de acoperire cu stocul curent)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&amp; Cerințe de implementare ERP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Flux date, frecvență rulare, validare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vanzari, stoc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max, param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59152" y="1353312"/>
            <a:ext cx="91440" cy="201168"/>
          </a:xfrm>
          <a:prstGeom prst="rightArrow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0789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1-3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Netting, AZI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excluderi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70832" y="1353312"/>
            <a:ext cx="91440" cy="201168"/>
          </a:xfrm>
          <a:prstGeom prst="rightArrow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80560" y="1051560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10789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4-9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Lifecycle,ABC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XYZ, CLASA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82512" y="1353312"/>
            <a:ext cx="91440" cy="201168"/>
          </a:xfrm>
          <a:prstGeom prst="rightArrow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10789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10-14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v5 HYBRID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94192" y="1353312"/>
            <a:ext cx="91440" cy="201168"/>
          </a:xfrm>
          <a:prstGeom prst="rightArrow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03920" y="1051560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49640" y="10789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15-17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4964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FLAG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DISC_FLAG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405872" y="1353312"/>
            <a:ext cx="91440" cy="201168"/>
          </a:xfrm>
          <a:prstGeom prst="rightArrow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515600" y="1051560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61320" y="107899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6132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39col×14loc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~16MB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029968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1A3552"/>
          </a:solidFill>
          <a:ln w="1905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2029968"/>
            <a:ext cx="5669280" cy="365760"/>
          </a:xfrm>
          <a:prstGeom prst="roundRect">
            <a:avLst>
              <a:gd name="adj" fmla="val 25000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20299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Frecvență &amp; Date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2468880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Săptămânal (recomandat: luni)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fresh din ERP: minim 1×/săpt.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AZI = max(Data) — NU data sistem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 52 săptămâni istorice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2029968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5080" y="2029968"/>
            <a:ext cx="5669280" cy="365760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0" y="20299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procesat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2468880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45,848 SKU × 14 locații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~60-80 MB (xlsx)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~16 MB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Calcul: ~80s (Python curent)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178808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1A3552"/>
          </a:solidFill>
          <a:ln w="1905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4178808"/>
            <a:ext cx="5669280" cy="365760"/>
          </a:xfrm>
          <a:prstGeom prst="roundRect">
            <a:avLst>
              <a:gd name="adj" fmla="val 25000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41788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Criterii acceptanță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4617720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ENG_MAX = min(MAX_inf, CAP6, VZ26_CAP)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 Rules re-aplicat după HQ CAP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CLASA "NOU"/"OD" → override ABC+XYZ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VZ_52S &gt; 0 obligatoriu pt STANDARD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4178808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1A3552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55080" y="4178808"/>
            <a:ext cx="5669280" cy="365760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92240" y="41788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paralelă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4617720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Rulare paralelă 1-2 săpt: Python vs ERP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Verificare FLAG: &gt;80% trebuie ✓ OK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Testare HQ CAP pe 4,208 SKU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Verificare Pack Rules (DISC, BUCSA)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2910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Performanță implementare Python curent: Etapa calc ~43s  |  Etapa write ~35s  |  Total ~80s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Referință — Cei 17 pași ai calculului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Referință completă implementare ERP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0972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95728" y="1097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max(Data) din vânzări — NU data sistem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7007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Ferestre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95728" y="170078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VZ_4S / 13S / 26S / 52S cu netting per SKU-client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3042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95728" y="230428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DISC./OTHER., client INTE79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9077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95728" y="29077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NOU/REACTIVAT / ON DEMAND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5112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95728" y="351129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cumulativ VAL_52S: A=80%, B=95%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41148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95728" y="41148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real lunar 12L; forțat Z: sezon/NOU/&lt; 2L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7183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47183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95728" y="47183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concat(ABC,XYZ); override NOU→NOU, OD→OD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3218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5321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" y="53218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COV_TGT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95728" y="53218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tabel param (AX=2.75 ... CZ=0)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9253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5925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" y="59253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AVG_POND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395728" y="592531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ponderare 30/40/15/15%; NOU=VZ_13S/3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5080" y="10972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30568" y="10972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93608" y="1097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safety, lt_stock, slts, buf, cycle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17007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55080" y="1700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30568" y="170078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Plafoane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93608" y="170078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min(MAX_inf, CAP6, VZ26_CAP) — toate trei!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23042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55080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30568" y="230428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Rules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93608" y="230428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DISC÷2, BUCSA≥4, INJECTOR, PISTON/CAMASA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29077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5508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830568" y="29077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CAP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93608" y="29077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ENG_MAX_HQ ≤ SUM_BR×1.5; re-apply pack!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55080" y="3511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55080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830568" y="351129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 30%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293608" y="351129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ENG_MIN_BUC ≥ ENG_MIN_HQ × 0.30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55080" y="4114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550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830568" y="41148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ext.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93608" y="411480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LICHIDARE→BUY=0; BLOCAT/EXCLUDE→0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355080" y="471830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55080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830568" y="47183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293608" y="471830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ENG/ERP: ✓OK / ↑↓ / ⚠ (5 categorii)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355080" y="53218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55080" y="5321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30568" y="53218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DISC_FLAG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293608" y="532180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(AZI-LAST_RECEIPT) &gt; 365 → DISCONTINUAT?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run curent — Iunie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· baza calcul 11.06.2026 · AZI = 2026-05-29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45,848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total HQ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1887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1887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NOU/REACTIVAT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109728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8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0" y="118872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33,223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6112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Reduse de HQ CAP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514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91840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LICHIDARE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514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7,813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126480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25146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1A3552"/>
          </a:solidFill>
          <a:ln w="25400">
            <a:solidFill>
              <a:srgbClr val="8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61120" y="26060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18,292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961120" y="3264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041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Distribuție CLASA — eligibili STANDARD: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A3552"/>
          </a:solidFill>
          <a:ln w="19050">
            <a:solidFill>
              <a:srgbClr val="8FA8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7200" y="4919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33,223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5248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0" y="43891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A3552"/>
          </a:solidFill>
          <a:ln w="19050">
            <a:solidFill>
              <a:srgbClr val="E07B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0" y="4434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743200" y="4919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743200" y="5248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43891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A3552"/>
          </a:solidFill>
          <a:ln w="19050">
            <a:solidFill>
              <a:srgbClr val="F4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0" y="4434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29200" y="4919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4,222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0" y="5248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43891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A3552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4434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15200" y="4919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2,549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0" y="5248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01200" y="438912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1A355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601200" y="4434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601200" y="4919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601200" y="5248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4041648"/>
            <a:ext cx="5120640" cy="1810512"/>
          </a:xfrm>
          <a:prstGeom prst="roundRect">
            <a:avLst>
              <a:gd name="adj" fmla="val 5051"/>
            </a:avLst>
          </a:prstGeom>
          <a:solidFill>
            <a:srgbClr val="1F406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12280" y="40965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Modificări față de versiunea anterioară: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58000" y="4480560"/>
            <a:ext cx="91440" cy="91440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95160" y="44256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 SSF: 1.28 → 1.65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4846320"/>
            <a:ext cx="91440" cy="91440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95160" y="47914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COV_HQ: 2.25 → 2.50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0" y="5212080"/>
            <a:ext cx="91440" cy="91440"/>
          </a:xfrm>
          <a:prstGeom prst="ellipse">
            <a:avLst/>
          </a:prstGeom>
          <a:solidFill>
            <a:srgbClr val="F4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95160" y="51572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COV_HQ: 1.50 → 1.75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2910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v5 HYBRID · run_minmax.py · 7 bugs rezolvate · minmax_union_v9_1106.xlsx (16 MB)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 &amp; Pași următori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2697480"/>
            <a:ext cx="237744" cy="2377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Confirmare specificații input/output cu echipa ERP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237744" cy="2377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310896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 tabele ERP: vânzări, stoc, parametri furnizori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611880"/>
            <a:ext cx="237744" cy="2377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356616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Mapare câmpuri ERP → 39 coloane output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237744" cy="2377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402336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Planificare job-uri: calc săptămânal + write Excel/tabel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526280"/>
            <a:ext cx="237744" cy="23774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526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4480560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Validare: rulare paralelă Python vs ERP (1-2 săptămâni)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Dubhe Romania SRL  ·  MIN/MAX Engine v5 HYBRID  ·  run_minmax.py  ·  Iunie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164592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1A3552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0976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run_minmax.py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2578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09760" y="2852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minmax_union.xlsx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3328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Versiune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0976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HYBRID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4078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0" y="43525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45,848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0976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Locații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09760" y="5102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(HQ + 13)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3110</Words>
  <Application>Microsoft Office PowerPoint</Application>
  <PresentationFormat>Widescreen</PresentationFormat>
  <Paragraphs>604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Constantin OPREA</cp:lastModifiedBy>
  <cp:revision>1</cp:revision>
  <dcterms:created xsi:type="dcterms:W3CDTF">2026-06-11T11:34:26Z</dcterms:created>
  <dcterms:modified xsi:type="dcterms:W3CDTF">2026-06-11T12:30:27Z</dcterms:modified>
</cp:coreProperties>
</file>